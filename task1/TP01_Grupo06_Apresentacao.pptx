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75" r:id="rId26"/>
    <p:sldId id="268" r:id="rId19"/>
    <p:sldId id="267" r:id="rId18"/>
    <p:sldId id="274" r:id="rId25"/>
    <p:sldId id="272" r:id="rId23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5.xml"/><Relationship Id="rId25" Type="http://schemas.openxmlformats.org/officeDocument/2006/relationships/slide" Target="slides/slide15.xml"/><Relationship Id="rId26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9999AA"/>
                </a:solidFill>
                <a:latin typeface="Calibri"/>
              </a:rPr>
              <a:t>Trabalho Prático 01 — Ciência de Dados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1A1A2E"/>
                </a:solidFill>
                <a:latin typeface="Calibri"/>
              </a:rPr>
              <a:t>Análise de Dados da Prova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91840"/>
            <a:ext cx="2286000" cy="254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Grupo 06  •  CEFET-MG Campus VII, Timóteo-MG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862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999AA"/>
                </a:solidFill>
                <a:latin typeface="Calibri"/>
              </a:rPr>
              <a:t>Prof. Thiago Goveia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O que vamos apresentar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011680" cy="34747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2011680" cy="50292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737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444455"/>
                </a:solidFill>
                <a:latin typeface="Calibri"/>
              </a:rPr>
              <a:t>As três bases de dados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645920"/>
            <a:ext cx="2011680" cy="34747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40" y="1645920"/>
            <a:ext cx="2011680" cy="50292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664208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331720"/>
            <a:ext cx="1737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444455"/>
                </a:solidFill>
                <a:latin typeface="Calibri"/>
              </a:rPr>
              <a:t>Diagnóstico: problemas encontrados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645920"/>
            <a:ext cx="2011680" cy="34747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1645920"/>
            <a:ext cx="2011680" cy="50292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664208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331720"/>
            <a:ext cx="1737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444455"/>
                </a:solidFill>
                <a:latin typeface="Calibri"/>
              </a:rPr>
              <a:t>Pré-processamento e decisões técnicas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1645920"/>
            <a:ext cx="2011680" cy="34747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1645920"/>
            <a:ext cx="2011680" cy="50292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664208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331720"/>
            <a:ext cx="1737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444455"/>
                </a:solidFill>
                <a:latin typeface="Calibri"/>
              </a:rPr>
              <a:t>10 visualizações analíticas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645920"/>
            <a:ext cx="2011680" cy="34747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92640" y="1645920"/>
            <a:ext cx="2011680" cy="50292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1664208"/>
            <a:ext cx="2011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2331720"/>
            <a:ext cx="1737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444455"/>
                </a:solidFill>
                <a:latin typeface="Calibri"/>
              </a:rPr>
              <a:t>Insights surpreendentes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Três fontes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3566160" cy="493776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43000"/>
            <a:ext cx="3566160" cy="50292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188720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Calibri"/>
              </a:rPr>
              <a:t>Prova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1907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C5F8A"/>
                </a:solidFill>
                <a:latin typeface="Calibri"/>
              </a:rPr>
              <a:t>42 registros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2103120"/>
            <a:ext cx="2743200" cy="12700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94560"/>
            <a:ext cx="29260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Calibri"/>
              </a:rPr>
              <a:t>Respostas por aluno: Q1–Q15
(1=acerto, 0=erro, vazio=pulou)
Nota, Faltas, %CH, %AU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143000"/>
            <a:ext cx="3566160" cy="493776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143000"/>
            <a:ext cx="3566160" cy="50292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188720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Calibri"/>
              </a:rPr>
              <a:t>Formulário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171907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C5F8A"/>
                </a:solidFill>
                <a:latin typeface="Calibri"/>
              </a:rPr>
              <a:t>40 registros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2103120"/>
            <a:ext cx="2743200" cy="12700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194560"/>
            <a:ext cx="29260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Calibri"/>
              </a:rPr>
              <a:t>Sondagem pós-prova: percepção
de dificuldade, horas de estudo,
compreensão por tema (15 tópicos)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1143000"/>
            <a:ext cx="3566160" cy="493776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80" y="1143000"/>
            <a:ext cx="3566160" cy="50292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1188720"/>
            <a:ext cx="3017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A1A2E"/>
                </a:solidFill>
                <a:latin typeface="Calibri"/>
              </a:rPr>
              <a:t>Questões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1719072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C5F8A"/>
                </a:solidFill>
                <a:latin typeface="Calibri"/>
              </a:rPr>
              <a:t>15 registros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41080" y="2103120"/>
            <a:ext cx="2743200" cy="12700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2194560"/>
            <a:ext cx="29260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Calibri"/>
              </a:rPr>
              <a:t>Metadados: assunto, simulado
de origem, flag de
questão de código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9999AA"/>
                </a:solidFill>
                <a:latin typeface="Calibri"/>
              </a:rPr>
              <a:t>Todas as bases: separador  |  (pipe)  •  encoding latin1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Diagnóstico: 11 problemas identificados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999AA"/>
                </a:solidFill>
                <a:latin typeface="Calibri"/>
              </a:rPr>
              <a:t>Antes de qualquer tratamento, cada problema foi documentado com base, atributo e extensão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05840"/>
            <a:ext cx="1554480" cy="347472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24128"/>
            <a:ext cx="1554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1005840"/>
            <a:ext cx="2194560" cy="347472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1024128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Atributo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005840"/>
            <a:ext cx="6858000" cy="347472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024128"/>
            <a:ext cx="6858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Problema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371600"/>
            <a:ext cx="155448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03120" y="1371600"/>
            <a:ext cx="219456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371600"/>
            <a:ext cx="685800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444752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Prova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1444752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Q1–Q15 com NaN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444752"/>
            <a:ext cx="6720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questões puladas intencionalmente (7–11 por coluna)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1892807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03120" y="1892807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1892807"/>
            <a:ext cx="6858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965959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Prova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1965959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Q7 do aluno 36116 = 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1965959"/>
            <a:ext cx="6720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valor inválido — deveria ser 0 ou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414015"/>
            <a:ext cx="155448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03120" y="2414015"/>
            <a:ext cx="219456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2414015"/>
            <a:ext cx="685800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2487167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Prova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2487167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Nota Questões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2487167"/>
            <a:ext cx="6720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separador decimal vírgula em vez de ponto (42 registros)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935224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103120" y="2935224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43400" y="2935224"/>
            <a:ext cx="6858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008376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Prova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3008376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Término (2 alunos)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3008376"/>
            <a:ext cx="6720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horários impossíveis para T2 → duração negativa/23 min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456432"/>
            <a:ext cx="155448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103120" y="3456432"/>
            <a:ext cx="219456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43400" y="3456432"/>
            <a:ext cx="685800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529584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Formulário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3529584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Linha duplicada (ID 36612)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3529584"/>
            <a:ext cx="6720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registro idêntico duplicado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3977639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103120" y="3977639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43400" y="3977639"/>
            <a:ext cx="6858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4050791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Formulário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94560" y="4050791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horas_estudo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40" y="4050791"/>
            <a:ext cx="6720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texto livre: '3h', 'fim de semana', 'poucas'…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498848"/>
            <a:ext cx="155448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103120" y="4498848"/>
            <a:ext cx="219456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43400" y="4498848"/>
            <a:ext cx="685800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4572000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Formulário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94560" y="4572000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nota_esperada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34840" y="4572000"/>
            <a:ext cx="6720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texto livre com vírgula/ponto mistos e resposta narrativa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5020056"/>
            <a:ext cx="1554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103120" y="5020056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343400" y="5020056"/>
            <a:ext cx="6858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" y="5093208"/>
            <a:ext cx="1417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Cruzamento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94560" y="5093208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3 alunos sem formulário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34840" y="5093208"/>
            <a:ext cx="6720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IDs 32484, 34740, 35260 presentes só na prova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Decisão central: o que fazer com questões puladas?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5029200" cy="50292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CC3333"/>
                </a:solidFill>
                <a:latin typeface="Calibri"/>
              </a:rPr>
              <a:t>NaN →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4572000" cy="704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• Trataria pulo como erro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78608"/>
            <a:ext cx="4572000" cy="704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• Penalizaria quem usou a
estratégia permitida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36976"/>
            <a:ext cx="4572000" cy="704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• Inflaria taxa de erro
em questões difíceis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95344"/>
            <a:ext cx="4572000" cy="704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• Distorceria P2 e P3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3035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CC3333"/>
                </a:solidFill>
                <a:latin typeface="Calibri"/>
              </a:rPr>
              <a:t>✗  descartado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097280"/>
            <a:ext cx="19050" cy="5029200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097280"/>
            <a:ext cx="5669280" cy="502920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234440"/>
            <a:ext cx="5212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2C5F8A"/>
                </a:solidFill>
                <a:latin typeface="Calibri"/>
              </a:rPr>
              <a:t>Manter NaN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920240"/>
            <a:ext cx="5212080" cy="704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• A prova permitia 2 skips
de forma explícita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578608"/>
            <a:ext cx="5212080" cy="704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• Pular é uma decisão
ativa do aluno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236976"/>
            <a:ext cx="5212080" cy="704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• .mean() ignora NaN:
taxa correta por questão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895344"/>
            <a:ext cx="5212080" cy="7040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• denominador = questões
efetivamente respondidas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530352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2C5F8A"/>
                </a:solidFill>
                <a:latin typeface="Calibri"/>
              </a:rPr>
              <a:t>✓  escolhido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Integração e atributos criados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C5F8A"/>
                </a:solidFill>
                <a:latin typeface="Calibri"/>
              </a:rPr>
              <a:t>Integração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029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Calibri"/>
              </a:rPr>
              <a:t>Prova (42) + Formulário (39) via LEFT JOIN
→ 42 registros preservados
→ 3 alunos sem formulário ficam com NaN explícito
→ Questões usadas como lookup nas agregações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0" y="1005840"/>
            <a:ext cx="12700" cy="5120640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005840"/>
            <a:ext cx="5760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2C5F8A"/>
                </a:solidFill>
                <a:latin typeface="Calibri"/>
              </a:rPr>
              <a:t>7 novos atributos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463040"/>
            <a:ext cx="5669280" cy="56692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536192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C5F8A"/>
                </a:solidFill>
                <a:latin typeface="Calibri"/>
              </a:rPr>
              <a:t>tempo_prova_min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53619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Término − início da turma (min)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075688"/>
            <a:ext cx="56692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1488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C5F8A"/>
                </a:solidFill>
                <a:latin typeface="Calibri"/>
              </a:rPr>
              <a:t>taxa_acerto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21488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acertos / questões respondidas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688336"/>
            <a:ext cx="5669280" cy="56692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2761488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C5F8A"/>
                </a:solidFill>
                <a:latin typeface="Calibri"/>
              </a:rPr>
              <a:t>taxa_acerto_codigo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761488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acertos em questões de código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300984"/>
            <a:ext cx="56692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3374136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C5F8A"/>
                </a:solidFill>
                <a:latin typeface="Calibri"/>
              </a:rPr>
              <a:t>taxa_acerto_nao_codigo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374136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acertos em questões conceituais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3913632"/>
            <a:ext cx="5669280" cy="56692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3986784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C5F8A"/>
                </a:solidFill>
                <a:latin typeface="Calibri"/>
              </a:rPr>
              <a:t>media_compreensao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986784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média da autoavaliação (1–3)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4526280"/>
            <a:ext cx="56692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4599432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C5F8A"/>
                </a:solidFill>
                <a:latin typeface="Calibri"/>
              </a:rPr>
              <a:t>simulados_realizados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4599432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quantos simulados o aluno fez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5138928"/>
            <a:ext cx="5669280" cy="56692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52120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2C5F8A"/>
                </a:solidFill>
                <a:latin typeface="Calibri"/>
              </a:rPr>
              <a:t>erro_esperado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52120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nota_esperada − nota_real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P1 — Distribuição das Notas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1_distribuicao_no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822960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915400" y="1005840"/>
            <a:ext cx="2999232" cy="53035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1097280"/>
            <a:ext cx="272491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C5F8A"/>
                </a:solidFill>
                <a:latin typeface="Calibri"/>
              </a:rPr>
              <a:t>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1554480"/>
            <a:ext cx="2724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Mediana = 11,2 pts (T1 e T2)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304288"/>
            <a:ext cx="2724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T2 ligeiramente superior
(média 11,8 vs 10,8)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3054096"/>
            <a:ext cx="2724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T1 estudou mais horas
mas não se refletiu na nota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3803904"/>
            <a:ext cx="2724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Sem outliers extremos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P2 — Desempenho por Questão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2_acerto_por_quest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786384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49640" y="1005840"/>
            <a:ext cx="3364992" cy="53035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32520" y="1097280"/>
            <a:ext cx="309067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C5F8A"/>
                </a:solidFill>
                <a:latin typeface="Calibri"/>
              </a:rPr>
              <a:t>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554480"/>
            <a:ext cx="3090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Q12 = 25,8%  ⚠ armadilha:
sim ≠ dissim (razão)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304288"/>
            <a:ext cx="3090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Q6 = 31,4%  ⚠ bins pareciam
largura igual, mas não eram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3054096"/>
            <a:ext cx="3090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Q10 = 92,9%: conceitual
com alternativas óbvias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803904"/>
            <a:ext cx="309067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Código: 57%  vs
Conceitual: 64% de acerto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P3 — Compreensão Declarada vs. Desempenho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3_desempenho_por_assu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822960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915400" y="1005840"/>
            <a:ext cx="2999232" cy="53035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1097280"/>
            <a:ext cx="272491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C5F8A"/>
                </a:solidFill>
                <a:latin typeface="Calibri"/>
              </a:rPr>
              <a:t>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1554480"/>
            <a:ext cx="2724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Alta compreensão declarada
não garantiu bom desempenho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304288"/>
            <a:ext cx="2724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Normalização: alunos acharam
que entenderam, mas Q6 = 31%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3054096"/>
            <a:ext cx="2724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KDD e Viés: conceituais
alinhados com a percepção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P4 — Horas de Estudo vs. Nota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4_horas_vs_no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822960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915400" y="1005840"/>
            <a:ext cx="2999232" cy="53035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1097280"/>
            <a:ext cx="272491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C5F8A"/>
                </a:solidFill>
                <a:latin typeface="Calibri"/>
              </a:rPr>
              <a:t>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1554480"/>
            <a:ext cx="2724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r = −0,06  ≈ zero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304288"/>
            <a:ext cx="2724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Quem estudou 30h não
foi melhor que quem estudou 4h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3054096"/>
            <a:ext cx="2724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Qualidade do estudo
importa mais que quantidade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3803904"/>
            <a:ext cx="2724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Auto-relato impreciso
pode mascarar correlação real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P5 — Percepção vs. Realidade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5_esperada_vs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822960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915400" y="1005840"/>
            <a:ext cx="2999232" cy="53035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1097280"/>
            <a:ext cx="272491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C5F8A"/>
                </a:solidFill>
                <a:latin typeface="Calibri"/>
              </a:rPr>
              <a:t>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1554480"/>
            <a:ext cx="2724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r = 0,53 (correlação moderada)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304288"/>
            <a:ext cx="2724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77% superestimou a própria nota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3054096"/>
            <a:ext cx="2724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Erro médio: +1,76 pts
Mediana: +2,0 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3803904"/>
            <a:ext cx="272491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Ninguém acertou a
nota exata (0% de precisão)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P6 — Perfil dos Alunos com Melhor Desempenho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6_perfil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822960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915400" y="1005840"/>
            <a:ext cx="3044952" cy="53035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0" y="1097280"/>
            <a:ext cx="28620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C5F8A"/>
                </a:solidFill>
                <a:latin typeface="Calibri"/>
              </a:rPr>
              <a:t>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1508760"/>
            <a:ext cx="2862072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444455"/>
                </a:solidFill>
                <a:latin typeface="Calibri"/>
              </a:rPr>
              <a:t>• Critério: Top 25%
(nota ≥ 12,6 pts, n=14)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2514600"/>
            <a:ext cx="2862072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444455"/>
                </a:solidFill>
                <a:latin typeface="Calibri"/>
              </a:rPr>
              <a:t>• Top estudou MENOS
horas (6,4h vs 8,8h)
— confirma P4 (r=−0,06)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3520440"/>
            <a:ext cx="2862072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444455"/>
                </a:solidFill>
                <a:latin typeface="Calibri"/>
              </a:rPr>
              <a:t>• Simulados: quase
idênticos entre grupos
(2,50 vs 2,57)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4526280"/>
            <a:ext cx="2862072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444455"/>
                </a:solidFill>
                <a:latin typeface="Calibri"/>
              </a:rPr>
              <a:t>• Acerto em código:
73% vs 48% — maior
diferencial entre grupos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P8 — Heatmap: Aluno × Questão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8_heatmap_aluno_quest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841248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098280" y="1005840"/>
            <a:ext cx="2816352" cy="53035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81160" y="1097280"/>
            <a:ext cx="25420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C5F8A"/>
                </a:solidFill>
                <a:latin typeface="Calibri"/>
              </a:rPr>
              <a:t>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1160" y="1554480"/>
            <a:ext cx="254203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Verde = acerto
Vermelho = erro
Cinza = pulou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2304288"/>
            <a:ext cx="254203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Alunos ordenados por nota
Questões por dificuldade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3054096"/>
            <a:ext cx="254203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Padrões de skip visíveis:
as questões mais difíceis
também são as mais puladas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P7 — Radar: Perfil por Turma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7_radar_tu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05840"/>
            <a:ext cx="685800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12480" y="1005840"/>
            <a:ext cx="3502152" cy="53035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0" y="1097280"/>
            <a:ext cx="32278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C5F8A"/>
                </a:solidFill>
                <a:latin typeface="Calibri"/>
              </a:rPr>
              <a:t>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1554480"/>
            <a:ext cx="322783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5 dimensões normalizadas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2304288"/>
            <a:ext cx="322783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Visão integrada do perfil
médio de T1 e T2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054096"/>
            <a:ext cx="322783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Permite ver em qual
dimensão cada turma
se destaca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1A1A2E"/>
                </a:solidFill>
                <a:latin typeface="Calibri"/>
              </a:rPr>
              <a:t>P9 — Uso de IA nos Simulados: Desempenho e Calibração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9_simulados_ia_vs_no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8503920" cy="5349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006840" y="960120"/>
            <a:ext cx="2953512" cy="534924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0" y="1051560"/>
            <a:ext cx="27706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C5F8A"/>
                </a:solidFill>
                <a:latin typeface="Calibri"/>
              </a:rPr>
              <a:t>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1463040"/>
            <a:ext cx="277063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• Sem IA: maior nota
(μ=11,9) MAS maior
superestimativa (+2,36)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514600"/>
            <a:ext cx="277063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• IA em todos: boa nota
(μ=11,6) E menor
superestimativa (+1,27)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3566160"/>
            <a:ext cx="277063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• IA em parte: pior nota
(μ=10,1) — misturar
estratégias não ajudou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617720"/>
            <a:ext cx="277063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444455"/>
                </a:solidFill>
                <a:latin typeface="Calibri"/>
              </a:rPr>
              <a:t>• IA pode calibrar
a autopercepção,
não só o conteúdo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P10 — Tempo de Prova vs. Desempenho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10_tempo_vs_no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822960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915400" y="1005840"/>
            <a:ext cx="2999232" cy="53035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1097280"/>
            <a:ext cx="272491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C5F8A"/>
                </a:solidFill>
                <a:latin typeface="Calibri"/>
              </a:rPr>
              <a:t>Insights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1554480"/>
            <a:ext cx="2724912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r = 0,02  ≈  zero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331720"/>
            <a:ext cx="2724912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Confirma P4: nem tempo
de estudo nem de prova
preveem a nota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3108960"/>
            <a:ext cx="2724912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T1 ficou +6 min mas teve
nota menor que T2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3886200"/>
            <a:ext cx="2724912" cy="7498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444455"/>
                </a:solidFill>
                <a:latin typeface="Calibri"/>
              </a:rPr>
              <a:t>• Domínio do conteúdo
importa, não o tempo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O que os dados revelaram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11064240" cy="12700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11155680" cy="1600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731520" cy="16002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731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207008"/>
            <a:ext cx="2560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Calibri"/>
              </a:rPr>
              <a:t>Horas de estudo
não prevê nota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1280160"/>
            <a:ext cx="12700" cy="1234440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234440"/>
            <a:ext cx="72237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Calibri"/>
              </a:rPr>
              <a:t>r = −0,06  •  Quem estudou 30h não foi melhor que quem estudou 4h.
Qualidade importa mais que quantidade.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34639"/>
            <a:ext cx="11155680" cy="1600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834639"/>
            <a:ext cx="731520" cy="16002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91839"/>
            <a:ext cx="731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44367"/>
            <a:ext cx="2560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Calibri"/>
              </a:rPr>
              <a:t>77% superestimou
a própria nota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80" y="3017519"/>
            <a:ext cx="12700" cy="1234440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2971799"/>
            <a:ext cx="72237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Calibri"/>
              </a:rPr>
              <a:t>Erro médio de +1,76 pts  •  Mediana +2,0 pts  •  Ninguém acertou exatamente.
Viés coletivo de superconfiança — sistemático, não aleatório.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72000"/>
            <a:ext cx="11155680" cy="16002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572000"/>
            <a:ext cx="731520" cy="16002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029200"/>
            <a:ext cx="731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681728"/>
            <a:ext cx="2560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A1A2E"/>
                </a:solidFill>
                <a:latin typeface="Calibri"/>
              </a:rPr>
              <a:t>Q12 separou conceito
de memorização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9080" y="4754880"/>
            <a:ext cx="12700" cy="1234440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4709160"/>
            <a:ext cx="72237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44455"/>
                </a:solidFill>
                <a:latin typeface="Calibri"/>
              </a:rPr>
              <a:t>25,8% de acerto  •  A alternativa errada usava dissimilaridade como similaridade.
Uma linha de diferença: sim = 1 − |diff|, não |diff| em si.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8E2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200" b="1">
                <a:solidFill>
                  <a:srgbClr val="1A1A2E"/>
                </a:solidFill>
                <a:latin typeface="Calibri"/>
              </a:rPr>
              <a:t>Obrigado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108960"/>
            <a:ext cx="3200400" cy="254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44455"/>
                </a:solidFill>
                <a:latin typeface="Calibri"/>
              </a:rPr>
              <a:t>Código e dados disponíveis no repositório do projeto.
Notebook reproduzível a partir dos CSVs originais.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999AA"/>
                </a:solidFill>
                <a:latin typeface="Calibri"/>
              </a:rPr>
              <a:t>Grupo 06  •  CEFET-MG Campus VII  •  Prof. Thiago Goveia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